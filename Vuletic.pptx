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11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643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66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89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282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33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113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78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269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33495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056305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80998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6540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6659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67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3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36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9DF47-C65B-B9D8-2BD3-208E6155D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>
            <a:normAutofit fontScale="90000"/>
          </a:bodyPr>
          <a:lstStyle/>
          <a:p>
            <a:pPr algn="r"/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r-HR" sz="3600">
                <a:latin typeface="Arial" panose="020B0604020202020204" pitchFamily="34" charset="0"/>
                <a:cs typeface="Arial" panose="020B0604020202020204" pitchFamily="34" charset="0"/>
              </a:rPr>
              <a:t>Pravila temeljena segmentacija žlijezdanih struktura</a:t>
            </a: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sz="3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r-HR" sz="2400">
                <a:latin typeface="Arial" panose="020B0604020202020204" pitchFamily="34" charset="0"/>
                <a:cs typeface="Arial" panose="020B0604020202020204" pitchFamily="34" charset="0"/>
              </a:rPr>
              <a:t>Kolegij: Računalni vid</a:t>
            </a:r>
            <a:endParaRPr lang="hr-H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131E9-C466-4533-AC00-FF4786563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4344" y="4604790"/>
            <a:ext cx="4206240" cy="1184584"/>
          </a:xfrm>
        </p:spPr>
        <p:txBody>
          <a:bodyPr>
            <a:normAutofit fontScale="85000" lnSpcReduction="20000"/>
          </a:bodyPr>
          <a:lstStyle/>
          <a:p>
            <a:pPr algn="r"/>
            <a:endParaRPr lang="hr-HR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hr-HR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hr-HR" sz="2100" b="1">
                <a:latin typeface="Arial" panose="020B0604020202020204" pitchFamily="34" charset="0"/>
                <a:cs typeface="Arial" panose="020B0604020202020204" pitchFamily="34" charset="0"/>
              </a:rPr>
              <a:t>Izradio: Antonio Vuletić</a:t>
            </a:r>
            <a:endParaRPr lang="hr-HR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0441BBC5-A6A5-E2D1-185E-CA4FCC5BB6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35" r="4913" b="-2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314470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47AF-9A5C-002B-F74C-3C03DBA2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500" dirty="0">
                <a:latin typeface="Arial" panose="020B0604020202020204" pitchFamily="34" charset="0"/>
                <a:cs typeface="Arial" panose="020B0604020202020204" pitchFamily="34" charset="0"/>
              </a:rPr>
              <a:t>Opis rada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6758E-1FAC-D50D-7EC1-79B9E8CC2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360000" algn="just">
              <a:lnSpc>
                <a:spcPct val="150000"/>
              </a:lnSpc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Dizajnirati jednostavan i pregledan sustav segmentacije</a:t>
            </a:r>
          </a:p>
          <a:p>
            <a:pPr indent="-360000" algn="just">
              <a:lnSpc>
                <a:spcPct val="150000"/>
              </a:lnSpc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Sustav koristi pragiranje, morfološke operacije i geometrijske kriterije</a:t>
            </a:r>
          </a:p>
          <a:p>
            <a:pPr marL="360000" indent="-360000" algn="just">
              <a:lnSpc>
                <a:spcPct val="150000"/>
              </a:lnSpc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Dobiveni rezultati sustava uspoređeni su s pripadajućim ground truth maskama kako bi se procijenila učinkovitost</a:t>
            </a:r>
          </a:p>
        </p:txBody>
      </p:sp>
    </p:spTree>
    <p:extLst>
      <p:ext uri="{BB962C8B-B14F-4D97-AF65-F5344CB8AC3E}">
        <p14:creationId xmlns:p14="http://schemas.microsoft.com/office/powerpoint/2010/main" val="74384184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C5220-4BDE-B810-A128-93C0E1524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500" dirty="0">
                <a:latin typeface="Arial" panose="020B0604020202020204" pitchFamily="34" charset="0"/>
                <a:cs typeface="Arial" panose="020B0604020202020204" pitchFamily="34" charset="0"/>
              </a:rPr>
              <a:t>Korišteni alati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73F49-935A-ED9C-8CC9-40DC79E8D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360000" algn="just">
              <a:lnSpc>
                <a:spcPct val="150000"/>
              </a:lnSpc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Visual Studio Code – razvojno okruženje</a:t>
            </a:r>
          </a:p>
          <a:p>
            <a:pPr indent="-360000" algn="just">
              <a:lnSpc>
                <a:spcPct val="150000"/>
              </a:lnSpc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Python – programski jezik</a:t>
            </a:r>
          </a:p>
          <a:p>
            <a:pPr indent="-360000" algn="just">
              <a:lnSpc>
                <a:spcPct val="150000"/>
              </a:lnSpc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OpenCV – biblioteka, NumPy i Matlpotlib – rad s podacima i vizualizacija rezultata</a:t>
            </a:r>
          </a:p>
          <a:p>
            <a:pPr indent="-360000" algn="just">
              <a:lnSpc>
                <a:spcPct val="150000"/>
              </a:lnSpc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GlaS dataset – sadrži slike tkiva s pripadajućim maskama žlijezdanih struktura</a:t>
            </a:r>
          </a:p>
        </p:txBody>
      </p:sp>
    </p:spTree>
    <p:extLst>
      <p:ext uri="{BB962C8B-B14F-4D97-AF65-F5344CB8AC3E}">
        <p14:creationId xmlns:p14="http://schemas.microsoft.com/office/powerpoint/2010/main" val="262009439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0D6EC-691D-3CC6-4E19-684A9896E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500" dirty="0">
                <a:latin typeface="Arial" panose="020B0604020202020204" pitchFamily="34" charset="0"/>
                <a:cs typeface="Arial" panose="020B0604020202020204" pitchFamily="34" charset="0"/>
              </a:rPr>
              <a:t>Mali šalabahter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1BAF4-47D5-FC55-6F02-6B9DFA6C9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60000" indent="-360000" algn="just">
              <a:lnSpc>
                <a:spcPct val="150000"/>
              </a:lnSpc>
            </a:pPr>
            <a:r>
              <a:rPr lang="hr-HR" sz="1700" dirty="0">
                <a:latin typeface="Arial" panose="020B0604020202020204" pitchFamily="34" charset="0"/>
                <a:cs typeface="Arial" panose="020B0604020202020204" pitchFamily="34" charset="0"/>
              </a:rPr>
              <a:t>Rule-based segmentacija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segmentacija temeljena na pravilima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bez potrebe učenja modela</a:t>
            </a:r>
          </a:p>
          <a:p>
            <a:pPr marL="360000" lvl="1" indent="-360000" algn="just">
              <a:lnSpc>
                <a:spcPct val="150000"/>
              </a:lnSpc>
            </a:pPr>
            <a:r>
              <a:rPr lang="hr-HR" sz="1700" dirty="0">
                <a:latin typeface="Arial" panose="020B0604020202020204" pitchFamily="34" charset="0"/>
                <a:cs typeface="Arial" panose="020B0604020202020204" pitchFamily="34" charset="0"/>
              </a:rPr>
              <a:t>Morfološke operacije</a:t>
            </a:r>
          </a:p>
          <a:p>
            <a:pPr marL="817200" lvl="2" indent="-3600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Operacije nad binarnim slikama</a:t>
            </a:r>
          </a:p>
          <a:p>
            <a:pPr marL="817200" lvl="2" indent="-3600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Čišćenje i oblikovanje objekata</a:t>
            </a:r>
          </a:p>
          <a:p>
            <a:pPr marL="360000" lvl="1" indent="-360000" algn="just">
              <a:lnSpc>
                <a:spcPct val="150000"/>
              </a:lnSpc>
            </a:pPr>
            <a:r>
              <a:rPr lang="hr-HR" sz="1700" dirty="0">
                <a:latin typeface="Arial" panose="020B0604020202020204" pitchFamily="34" charset="0"/>
                <a:cs typeface="Arial" panose="020B0604020202020204" pitchFamily="34" charset="0"/>
              </a:rPr>
              <a:t>Pragiranje (thresholding)</a:t>
            </a:r>
          </a:p>
          <a:p>
            <a:pPr marL="817200" lvl="2" indent="-3600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r-HR" sz="1500" dirty="0">
                <a:latin typeface="Arial" panose="020B0604020202020204" pitchFamily="34" charset="0"/>
                <a:cs typeface="Arial" panose="020B0604020202020204" pitchFamily="34" charset="0"/>
              </a:rPr>
              <a:t>Razdvajanje piksela po intenzitetu</a:t>
            </a:r>
          </a:p>
          <a:p>
            <a:pPr marL="360000" lvl="1" indent="-360000" algn="just">
              <a:lnSpc>
                <a:spcPct val="150000"/>
              </a:lnSpc>
            </a:pPr>
            <a:r>
              <a:rPr lang="hr-HR" sz="1700" dirty="0">
                <a:latin typeface="Arial" panose="020B0604020202020204" pitchFamily="34" charset="0"/>
                <a:cs typeface="Arial" panose="020B0604020202020204" pitchFamily="34" charset="0"/>
              </a:rPr>
              <a:t>Ground truth </a:t>
            </a:r>
          </a:p>
          <a:p>
            <a:pPr marL="817200" lvl="2" indent="-3600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r-HR" sz="1500" dirty="0">
                <a:latin typeface="Arial" panose="020B0604020202020204" pitchFamily="34" charset="0"/>
                <a:cs typeface="Arial" panose="020B0604020202020204" pitchFamily="34" charset="0"/>
              </a:rPr>
              <a:t>Ručno označena ispravna maska</a:t>
            </a:r>
          </a:p>
          <a:p>
            <a:pPr marL="817200" lvl="2" indent="-3600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r-HR" sz="1500" dirty="0">
                <a:latin typeface="Arial" panose="020B0604020202020204" pitchFamily="34" charset="0"/>
                <a:cs typeface="Arial" panose="020B0604020202020204" pitchFamily="34" charset="0"/>
              </a:rPr>
              <a:t>Služi kao referenca za usporedbu</a:t>
            </a:r>
          </a:p>
          <a:p>
            <a:pPr lvl="1" algn="just">
              <a:lnSpc>
                <a:spcPct val="150000"/>
              </a:lnSpc>
            </a:pP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670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45367-C65D-5652-5453-8DB4E639E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500" dirty="0">
                <a:latin typeface="Arial" panose="020B0604020202020204" pitchFamily="34" charset="0"/>
                <a:cs typeface="Arial" panose="020B0604020202020204" pitchFamily="34" charset="0"/>
              </a:rPr>
              <a:t>Postupak segmentacije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6446F-C956-1403-EBC6-C7623AC819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60000" indent="-360000" algn="just">
              <a:lnSpc>
                <a:spcPct val="150000"/>
              </a:lnSpc>
              <a:buFont typeface="+mj-lt"/>
              <a:buAutoNum type="arabicParenR"/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Pretprocesiranje slike</a:t>
            </a:r>
          </a:p>
          <a:p>
            <a:pPr marL="702900" indent="-342900" algn="just">
              <a:lnSpc>
                <a:spcPct val="150000"/>
              </a:lnSpc>
            </a:pPr>
            <a:r>
              <a:rPr lang="hr-HR" sz="1800" dirty="0">
                <a:latin typeface="Arial" panose="020B0604020202020204" pitchFamily="34" charset="0"/>
                <a:cs typeface="Arial" panose="020B0604020202020204" pitchFamily="34" charset="0"/>
              </a:rPr>
              <a:t>Postupak u kojem se ulazne slike pretvaraju u sivu skalu</a:t>
            </a:r>
          </a:p>
          <a:p>
            <a:pPr marL="702900" indent="-342900" algn="just">
              <a:lnSpc>
                <a:spcPct val="150000"/>
              </a:lnSpc>
            </a:pPr>
            <a:r>
              <a:rPr lang="hr-HR" sz="1800" dirty="0">
                <a:latin typeface="Arial" panose="020B0604020202020204" pitchFamily="34" charset="0"/>
                <a:cs typeface="Arial" panose="020B0604020202020204" pitchFamily="34" charset="0"/>
              </a:rPr>
              <a:t>Smanjuje se količina informacija i olakšava daljnja primjena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F764F-2FD2-5B50-38DD-CDF3B4B976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 startAt="2"/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Pragiranje</a:t>
            </a:r>
          </a:p>
          <a:p>
            <a:pPr lvl="1" algn="just">
              <a:lnSpc>
                <a:spcPct val="150000"/>
              </a:lnSpc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Postupak gdje se izdvajaju potencijalne žlijezdane strukture</a:t>
            </a:r>
          </a:p>
          <a:p>
            <a:pPr lvl="1" algn="just">
              <a:lnSpc>
                <a:spcPct val="150000"/>
              </a:lnSpc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Ako je piksel većeg intenziteta od zadanog to je označeno kao objekt, a ostalo je pozadina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78663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2B530-A909-69E1-FFF7-C5A06127D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B69E8-C526-FF8E-E46B-D602AFC40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500" dirty="0">
                <a:latin typeface="Arial" panose="020B0604020202020204" pitchFamily="34" charset="0"/>
                <a:cs typeface="Arial" panose="020B0604020202020204" pitchFamily="34" charset="0"/>
              </a:rPr>
              <a:t>Postupak segmentacije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2575C-4340-F205-1009-C680F6FA00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 startAt="3"/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Morfološke operacije</a:t>
            </a:r>
          </a:p>
          <a:p>
            <a:pPr marL="702900" indent="-342900" algn="just">
              <a:lnSpc>
                <a:spcPct val="150000"/>
              </a:lnSpc>
            </a:pPr>
            <a:r>
              <a:rPr lang="hr-HR" sz="1800" dirty="0">
                <a:latin typeface="Arial" panose="020B0604020202020204" pitchFamily="34" charset="0"/>
                <a:cs typeface="Arial" panose="020B0604020202020204" pitchFamily="34" charset="0"/>
              </a:rPr>
              <a:t>Uklanjanje šuma i poboljšanje segmenata</a:t>
            </a:r>
          </a:p>
          <a:p>
            <a:pPr marL="702900" indent="-342900" algn="just">
              <a:lnSpc>
                <a:spcPct val="150000"/>
              </a:lnSpc>
            </a:pPr>
            <a:r>
              <a:rPr lang="hr-HR" sz="1800" dirty="0">
                <a:latin typeface="Arial" panose="020B0604020202020204" pitchFamily="34" charset="0"/>
                <a:cs typeface="Arial" panose="020B0604020202020204" pitchFamily="34" charset="0"/>
              </a:rPr>
              <a:t>Uklanjaju se mali izolirani objekti te se zaglađuju rubovi segmentiranih struktura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C3082-A3D6-2025-02CB-7B2BEF982D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 startAt="4"/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Dobivanje binarne maske</a:t>
            </a:r>
          </a:p>
          <a:p>
            <a:pPr lvl="1" algn="just">
              <a:lnSpc>
                <a:spcPct val="150000"/>
              </a:lnSpc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Rezultat svih prethodnih koraka je binarna maska, u kojoj su žlijezdane strukture od pozadine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63592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C444A-0C3A-9AD5-0A3D-653878DBD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500" dirty="0">
                <a:latin typeface="Arial" panose="020B0604020202020204" pitchFamily="34" charset="0"/>
                <a:cs typeface="Arial" panose="020B0604020202020204" pitchFamily="34" charset="0"/>
              </a:rPr>
              <a:t>Vizualizacija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74339F-39AC-5E30-4A51-AF3E02E97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1600196"/>
            <a:ext cx="10944000" cy="364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448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59E8C-AAD4-1F6B-5403-5FC05951F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44543-8719-F153-1D48-8DD44EEAC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500" dirty="0">
                <a:latin typeface="Arial" panose="020B0604020202020204" pitchFamily="34" charset="0"/>
                <a:cs typeface="Arial" panose="020B0604020202020204" pitchFamily="34" charset="0"/>
              </a:rPr>
              <a:t>Vizualizacija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B9B8E-E86C-C5C4-0342-CD422A9C0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1600196"/>
            <a:ext cx="10944000" cy="364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8325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F1382-F800-AD25-69BB-E4FC4F16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881B8-A46B-66C1-C7BA-66CB635F6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500" dirty="0">
                <a:latin typeface="Arial" panose="020B0604020202020204" pitchFamily="34" charset="0"/>
                <a:cs typeface="Arial" panose="020B0604020202020204" pitchFamily="34" charset="0"/>
              </a:rPr>
              <a:t>Vizualizacija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5146CC-777A-5760-101A-DDF08D9CC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1600196"/>
            <a:ext cx="10944000" cy="364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761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81D7-8D60-4493-9524-E52A84A72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500" dirty="0">
                <a:latin typeface="Arial" panose="020B0604020202020204" pitchFamily="34" charset="0"/>
                <a:cs typeface="Arial" panose="020B0604020202020204" pitchFamily="34" charset="0"/>
              </a:rPr>
              <a:t>Zaključak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A8D7B-A14C-C41F-1785-DE130D4239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60000" indent="-360000">
              <a:lnSpc>
                <a:spcPct val="150000"/>
              </a:lnSpc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PREDNOSTI</a:t>
            </a:r>
          </a:p>
          <a:p>
            <a:pPr marL="817200" lvl="1" indent="-360000">
              <a:lnSpc>
                <a:spcPct val="150000"/>
              </a:lnSpc>
            </a:pPr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Interpretabilan pristup</a:t>
            </a:r>
          </a:p>
          <a:p>
            <a:pPr marL="817200" lvl="1" indent="-360000">
              <a:lnSpc>
                <a:spcPct val="150000"/>
              </a:lnSpc>
            </a:pPr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Jednostavna implementacija</a:t>
            </a:r>
          </a:p>
          <a:p>
            <a:pPr marL="817200" lvl="1" indent="-360000">
              <a:lnSpc>
                <a:spcPct val="150000"/>
              </a:lnSpc>
            </a:pPr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Bez potrebnog učenja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D94E1-3319-46A5-9E67-2E2CCDDBA5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60000" indent="-360000">
              <a:lnSpc>
                <a:spcPct val="150000"/>
              </a:lnSpc>
            </a:pP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NEDOSTATCI</a:t>
            </a:r>
          </a:p>
          <a:p>
            <a:pPr marL="817200" lvl="1" indent="-360000">
              <a:lnSpc>
                <a:spcPct val="150000"/>
              </a:lnSpc>
            </a:pPr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Slaba generalizacija</a:t>
            </a:r>
          </a:p>
          <a:p>
            <a:pPr marL="817200" lvl="1" indent="-360000">
              <a:lnSpc>
                <a:spcPct val="150000"/>
              </a:lnSpc>
            </a:pPr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Ručno podešavanje</a:t>
            </a:r>
          </a:p>
          <a:p>
            <a:pPr marL="817200" lvl="1" indent="-360000">
              <a:lnSpc>
                <a:spcPct val="150000"/>
              </a:lnSpc>
            </a:pPr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Osjetljiv na parametre</a:t>
            </a:r>
          </a:p>
        </p:txBody>
      </p:sp>
    </p:spTree>
    <p:extLst>
      <p:ext uri="{BB962C8B-B14F-4D97-AF65-F5344CB8AC3E}">
        <p14:creationId xmlns:p14="http://schemas.microsoft.com/office/powerpoint/2010/main" val="1357851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80</TotalTime>
  <Words>252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Bookman Old Style</vt:lpstr>
      <vt:lpstr>Courier New</vt:lpstr>
      <vt:lpstr>Rockwell</vt:lpstr>
      <vt:lpstr>Damask</vt:lpstr>
      <vt:lpstr>                     Pravila temeljena segmentacija žlijezdanih struktura   Kolegij: Računalni vid</vt:lpstr>
      <vt:lpstr>Opis rada</vt:lpstr>
      <vt:lpstr>Korišteni alati</vt:lpstr>
      <vt:lpstr>Mali šalabahter</vt:lpstr>
      <vt:lpstr>Postupak segmentacije</vt:lpstr>
      <vt:lpstr>Postupak segmentacije</vt:lpstr>
      <vt:lpstr>Vizualizacija</vt:lpstr>
      <vt:lpstr>Vizualizacija</vt:lpstr>
      <vt:lpstr>Vizualizacija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Vuletić</dc:creator>
  <cp:lastModifiedBy>Antonio Vuletić</cp:lastModifiedBy>
  <cp:revision>12</cp:revision>
  <dcterms:created xsi:type="dcterms:W3CDTF">2026-02-03T18:01:50Z</dcterms:created>
  <dcterms:modified xsi:type="dcterms:W3CDTF">2026-02-06T12:46:28Z</dcterms:modified>
</cp:coreProperties>
</file>